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lsx" ContentType="application/vnd.openxmlformats-officedocument.spreadsheetml.sheet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charts/chart1.xml" ContentType="application/vnd.openxmlformats-officedocument.drawingml.chart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</ns0: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Test Set Distribution</a:t>
            </a:r>
          </a:p>
        </c:rich>
      </c:tx>
      <c:layout/>
      <c:overlay val="0"/>
    </c:title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Support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BENIGN</c:v>
                </c:pt>
                <c:pt idx="1">
                  <c:v>DDoS</c:v>
                </c:pt>
                <c:pt idx="2">
                  <c:v>GoldenEye</c:v>
                </c:pt>
                <c:pt idx="3">
                  <c:v>Hulk</c:v>
                </c:pt>
                <c:pt idx="4">
                  <c:v>FTP</c:v>
                </c:pt>
                <c:pt idx="5">
                  <c:v>PortScan</c:v>
                </c:pt>
                <c:pt idx="6">
                  <c:v>SSH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14000</c:v>
                </c:pt>
                <c:pt idx="1">
                  <c:v>1600</c:v>
                </c:pt>
                <c:pt idx="2">
                  <c:v>1000</c:v>
                </c:pt>
                <c:pt idx="3">
                  <c:v>2000</c:v>
                </c:pt>
                <c:pt idx="4">
                  <c:v>800</c:v>
                </c:pt>
                <c:pt idx="5">
                  <c:v>1600</c:v>
                </c:pt>
                <c:pt idx="6">
                  <c:v>600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Introduce the project title and team. Emphasize that the system combines a dashboard, API services, persistent logging, alerts, and an ML detection model.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Explain the project as a practical defense dashboard. Keep the focus on why distributed monitoring and rapid classification are needed.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Contrast the old workflow with the proposed workflow. Highlight speed, visibility, consistency, and the ability to preserve evidence.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Describe the solution as an integrated platform. Mention that the key feature is not only prediction but the complete response workflow around it.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Walk through data movement from a user action to API validation, model inference, database persistence, and dashboard visualization.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Mention why the stack is appropriate: React for UI, FastAPI/scikit-learn for ML, PostgreSQL for durable records, and Docker for reproducible deployment.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Use this slide to explain the viva demo sequence: submit sample traffic, observe prediction, inspect saved log, and review auto-created alert.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Explain the implemented modules and point out that the dashboard mockup reflects the real React components: summary cards, live scanner, and recent activity.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Present the results carefully as project/test-dataset results. Clarify that the model was evaluated on the generated CICIDS-style dataset included with the project.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Connect benefits to practical environments. For viva, emphasize how each benefit is visible in the implemented application.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Acknowledge that the academic prototype is functional, then show a credible path toward a production-grade DIDS.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Close the technical story. Restate the main achievement: a complete system, not only a standalone model.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Invite questions. Be prepared to discuss architecture, detection logic, test results, limitations, and future improvements.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2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3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4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5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6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7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8.xml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chart" Target="../charts/chart1.xml" /><ns0:Relationship Id="rId3" Type="http://schemas.openxmlformats.org/officeDocument/2006/relationships/notesSlide" Target="../notesSlides/notesSlide9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0.xml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1.xml" /></ns0:Relationships>
</file>

<file path=ppt/slides/_rels/slide1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2.xml" /></ns0:Relationships>
</file>

<file path=ppt/slides/_rels/slide1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7.xml" /><ns0:Relationship Id="rId2" Type="http://schemas.openxmlformats.org/officeDocument/2006/relationships/notesSlide" Target="../notesSlides/notesSlide13.xml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77639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594360"/>
            <a:ext cx="621792" cy="6217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27432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BFDBFE"/>
                </a:solidFill>
                <a:latin typeface="Aptos"/>
              </a:rPr>
              <a:t>Academic Project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051560"/>
            <a:ext cx="6492240" cy="1325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500" b="1">
                <a:solidFill>
                  <a:srgbClr val="0F172A"/>
                </a:solidFill>
                <a:latin typeface="Aptos Display"/>
              </a:rPr>
              <a:t>Distributed Intrusion
Detection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2578608"/>
            <a:ext cx="612648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Aptos"/>
              </a:rPr>
              <a:t>AI-assisted monitoring, detection, alerts, and analytics for network traffic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3154680"/>
            <a:ext cx="1234440" cy="310896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563EB"/>
                </a:solidFill>
                <a:latin typeface="Aptos"/>
              </a:rPr>
              <a:t>React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3154680"/>
            <a:ext cx="1234440" cy="310896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10B981"/>
                </a:solidFill>
                <a:latin typeface="Aptos"/>
              </a:rPr>
              <a:t>FastAPI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3154680"/>
            <a:ext cx="1508760" cy="310896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EF4444"/>
                </a:solidFill>
                <a:latin typeface="Aptos"/>
              </a:rPr>
              <a:t>Random Forest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154680"/>
            <a:ext cx="1508760" cy="310896"/>
          </a:xfrm>
          <a:prstGeom prst="roundRect">
            <a:avLst/>
          </a:prstGeom>
          <a:solidFill>
            <a:srgbClr val="ECFEFF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6B6D4"/>
                </a:solidFill>
                <a:latin typeface="Apto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3977639"/>
            <a:ext cx="6217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4187952"/>
            <a:ext cx="548640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Student: Muhammad Zaid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526280"/>
            <a:ext cx="5486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tos"/>
              </a:rPr>
              <a:t>Roll No: 232674  |  Member: M. Shafiq (232699)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828032"/>
            <a:ext cx="5486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  <a:latin typeface="Aptos"/>
              </a:rPr>
              <a:t>GCUF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5895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75895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Introduction, problem statement, and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515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Distributed Intrusion Detection System - University Project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45336"/>
            <a:ext cx="3099816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297180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marL="260000" hanging="120000">
              <a:spcAft>
                <a:spcPts val="32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t>A distributed intrusion detection system monitors traffic across multiple nodes.</a:t>
            </a:r>
          </a:p>
          <a:p>
            <a:pPr marL="260000" hanging="120000">
              <a:spcAft>
                <a:spcPts val="32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t>Traffic is classified as benign or malicious using feature-based detection.</a:t>
            </a:r>
          </a:p>
          <a:p>
            <a:pPr marL="260000" hanging="120000">
              <a:spcAft>
                <a:spcPts val="32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t>Security events are stored, visualized, and converted into actionable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545336"/>
            <a:ext cx="3099816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19"/>
            <a:ext cx="297180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marL="260000" hanging="120000">
              <a:spcAft>
                <a:spcPts val="32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t>Manual log review is slow and error-prone.</a:t>
            </a:r>
          </a:p>
          <a:p>
            <a:pPr marL="260000" hanging="120000">
              <a:spcAft>
                <a:spcPts val="32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t>Single-node IDS designs miss distributed or high-volume attack behavior.</a:t>
            </a:r>
          </a:p>
          <a:p>
            <a:pPr marL="260000" hanging="120000">
              <a:spcAft>
                <a:spcPts val="32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t>Teams need a real-time view of threats, nodes, and incident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4290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545336"/>
            <a:ext cx="3099816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74519"/>
            <a:ext cx="2971800" cy="22860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marL="260000" hanging="120000">
              <a:spcAft>
                <a:spcPts val="32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t>Detect DoS, DDoS, PortScan, and brute-force attack classes.</a:t>
            </a:r>
          </a:p>
          <a:p>
            <a:pPr marL="260000" hanging="120000">
              <a:spcAft>
                <a:spcPts val="32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t>Provide dashboard analytics, recent logs, and alert resolution workflow.</a:t>
            </a:r>
          </a:p>
          <a:p>
            <a:pPr marL="260000" hanging="120000">
              <a:spcAft>
                <a:spcPts val="32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t>Support authentication, API contracts, testing, and containerized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5895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Existing System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75895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Limitations that motivated the proposed DIDS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515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Distributed Intrusion Detection System - University Project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53312"/>
            <a:ext cx="43891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Traditional / current approach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828800"/>
            <a:ext cx="329184" cy="3291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10512"/>
            <a:ext cx="27432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Fragmented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57400"/>
            <a:ext cx="3931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Aptos"/>
              </a:rPr>
              <a:t>Logs remain scattered across machines and services.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651760"/>
            <a:ext cx="329184" cy="3291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33472"/>
            <a:ext cx="27432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Delayed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80360"/>
            <a:ext cx="3931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Aptos"/>
              </a:rPr>
              <a:t>Analysts discover attacks after damage or downtime.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474720"/>
            <a:ext cx="329184" cy="3291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56432"/>
            <a:ext cx="27432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Signature dependence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03320"/>
            <a:ext cx="3931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Aptos"/>
              </a:rPr>
              <a:t>Simple rules miss variations of known behavior.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297680"/>
            <a:ext cx="329184" cy="32918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279392"/>
            <a:ext cx="27432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Weak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526280"/>
            <a:ext cx="3931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Aptos"/>
              </a:rPr>
              <a:t>No unified picture of node health, threat rate, and trends.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1417320"/>
            <a:ext cx="53035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2" y="1545336"/>
            <a:ext cx="4974336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Need for Proposed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874519"/>
            <a:ext cx="4709160" cy="28803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marL="260000" hanging="120000">
              <a:spcAft>
                <a:spcPts val="32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t>Centralized event collection from multiple network nodes.</a:t>
            </a:r>
          </a:p>
          <a:p>
            <a:pPr marL="260000" hanging="120000">
              <a:spcAft>
                <a:spcPts val="32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t>Automated detection with confidence score and threat category.</a:t>
            </a:r>
          </a:p>
          <a:p>
            <a:pPr marL="260000" hanging="120000">
              <a:spcAft>
                <a:spcPts val="32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t>Real-time dashboard for operational awareness.</a:t>
            </a:r>
          </a:p>
          <a:p>
            <a:pPr marL="260000" hanging="120000">
              <a:spcAft>
                <a:spcPts val="32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t>Persistent audit trail for reports, investigation, and viva demonstration.</a:t>
            </a:r>
          </a:p>
          <a:p>
            <a:pPr marL="260000" hanging="120000">
              <a:spcAft>
                <a:spcPts val="320"/>
              </a:spcAft>
              <a:defRPr sz="1300">
                <a:solidFill>
                  <a:srgbClr val="334155"/>
                </a:solidFill>
                <a:latin typeface="Aptos"/>
              </a:defRPr>
            </a:pPr>
            <a:r>
              <a:t>Authentication and controlled API access for safer usage.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5895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75895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A full-stack DIDS with detection, alerts, analytics, and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515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Distributed Intrusion Detection System - University Project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74519"/>
            <a:ext cx="3474720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7992" y="2002536"/>
            <a:ext cx="3145536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DIDS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67712"/>
            <a:ext cx="28346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ptos"/>
              </a:rPr>
              <a:t>Dashboard + API + ML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2926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6112" y="170992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673351"/>
            <a:ext cx="2057400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Packet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947672"/>
            <a:ext cx="201168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30" b="0">
                <a:solidFill>
                  <a:srgbClr val="334155"/>
                </a:solidFill>
                <a:latin typeface="Aptos"/>
              </a:rPr>
              <a:t>Submit manual traffic or tcpdump-style packet metadata from sensor nodes.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2029967"/>
            <a:ext cx="685800" cy="347473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3840480"/>
            <a:ext cx="2926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4041648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4005072"/>
            <a:ext cx="2057400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Threat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4279392"/>
            <a:ext cx="201168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30" b="0">
                <a:solidFill>
                  <a:srgbClr val="334155"/>
                </a:solidFill>
                <a:latin typeface="Aptos"/>
              </a:rPr>
              <a:t>Automatically creates alerts for malicious detections.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657600" y="2377440"/>
            <a:ext cx="685800" cy="1984248"/>
          </a:xfrm>
          <a:prstGeom prst="line">
            <a:avLst/>
          </a:prstGeom>
          <a:ln w="1778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43400" y="4206240"/>
            <a:ext cx="2926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07992" y="4407407"/>
            <a:ext cx="384048" cy="38404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1768" y="4370831"/>
            <a:ext cx="2057400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1768" y="4645152"/>
            <a:ext cx="201168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30" b="0">
                <a:solidFill>
                  <a:srgbClr val="334155"/>
                </a:solidFill>
                <a:latin typeface="Aptos"/>
              </a:rPr>
              <a:t>Traffic trends, threat distribution, and dashboard summary.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4343400" y="2377440"/>
            <a:ext cx="3474720" cy="2350008"/>
          </a:xfrm>
          <a:prstGeom prst="line">
            <a:avLst/>
          </a:prstGeom>
          <a:ln w="1778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83879" y="1508760"/>
            <a:ext cx="2926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8471" y="1709928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2248" y="1673351"/>
            <a:ext cx="2057400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Audit Logs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1947672"/>
            <a:ext cx="201168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30" b="0">
                <a:solidFill>
                  <a:srgbClr val="334155"/>
                </a:solidFill>
                <a:latin typeface="Aptos"/>
              </a:rPr>
              <a:t>Paginated logs with filters, statuses, and confidence score.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818120" y="2029967"/>
            <a:ext cx="365759" cy="347473"/>
          </a:xfrm>
          <a:prstGeom prst="line">
            <a:avLst/>
          </a:prstGeom>
          <a:ln w="1778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83879" y="3840480"/>
            <a:ext cx="2926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48471" y="4041648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42248" y="4005072"/>
            <a:ext cx="2057400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Auth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2248" y="4279392"/>
            <a:ext cx="201168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30" b="0">
                <a:solidFill>
                  <a:srgbClr val="334155"/>
                </a:solidFill>
                <a:latin typeface="Aptos"/>
              </a:rPr>
              <a:t>JWT user authentication and protected routes.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7818120" y="2377440"/>
            <a:ext cx="365759" cy="1984248"/>
          </a:xfrm>
          <a:prstGeom prst="line">
            <a:avLst/>
          </a:prstGeom>
          <a:ln w="1778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343400" y="868680"/>
            <a:ext cx="2926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07992" y="1069848"/>
            <a:ext cx="384048" cy="38404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01768" y="1033271"/>
            <a:ext cx="2057400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Deployment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01768" y="1307592"/>
            <a:ext cx="201168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30" b="0">
                <a:solidFill>
                  <a:srgbClr val="334155"/>
                </a:solidFill>
                <a:latin typeface="Aptos"/>
              </a:rPr>
              <a:t>Docker Compose with frontend, backend, and PostgreSQL.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343400" y="1389888"/>
            <a:ext cx="3474720" cy="987552"/>
          </a:xfrm>
          <a:prstGeom prst="line">
            <a:avLst/>
          </a:prstGeom>
          <a:ln w="1778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5895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75895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Main components and data movement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515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Distributed Intrusion Detection System - University Project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67335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645920"/>
            <a:ext cx="13258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Users /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920240"/>
            <a:ext cx="1325880" cy="2468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64748B"/>
                </a:solidFill>
                <a:latin typeface="Aptos"/>
              </a:rPr>
              <a:t>Browser-based security operator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6304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74720" y="1673352"/>
            <a:ext cx="384048" cy="38404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1645920"/>
            <a:ext cx="13258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React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2" y="1920240"/>
            <a:ext cx="1325880" cy="2468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64748B"/>
                </a:solidFill>
                <a:latin typeface="Aptos"/>
              </a:rPr>
              <a:t>Vite, React Query, charts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46304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0" y="167335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1645920"/>
            <a:ext cx="13258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API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1920240"/>
            <a:ext cx="1325880" cy="2468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64748B"/>
                </a:solidFill>
                <a:latin typeface="Aptos"/>
              </a:rPr>
              <a:t>Express routes and contracts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1463040"/>
            <a:ext cx="2103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0" y="1673352"/>
            <a:ext cx="384048" cy="38404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1645920"/>
            <a:ext cx="13258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1920240"/>
            <a:ext cx="1325880" cy="2468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64748B"/>
                </a:solidFill>
                <a:latin typeface="Aptos"/>
              </a:rPr>
              <a:t>Logs, alerts, users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880360" y="192024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440680" y="192024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01000" y="192024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743200" y="3291840"/>
            <a:ext cx="2240280" cy="10972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07792" y="3419856"/>
            <a:ext cx="1911096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Network Sensors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7792" y="3730752"/>
            <a:ext cx="19202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ptos"/>
              </a:rPr>
              <a:t>packet metadata + tcpdump input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32120" y="3246120"/>
            <a:ext cx="2926080" cy="12344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96712" y="3374136"/>
            <a:ext cx="2596896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ML Detection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685032"/>
            <a:ext cx="2377440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030" b="1">
                <a:solidFill>
                  <a:srgbClr val="EF4444"/>
                </a:solidFill>
                <a:latin typeface="Aptos"/>
              </a:rPr>
              <a:t>FastAPI + Random Forest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3977639"/>
            <a:ext cx="237744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19" b="0">
                <a:solidFill>
                  <a:srgbClr val="64748B"/>
                </a:solidFill>
                <a:latin typeface="Aptos"/>
              </a:rPr>
              <a:t>79 CICIDS-style flow features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3886200" y="2377440"/>
            <a:ext cx="2240280" cy="91440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995160" y="2377440"/>
            <a:ext cx="0" cy="86868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315200" y="2377440"/>
            <a:ext cx="1508760" cy="86868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77240" y="4983480"/>
            <a:ext cx="97840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" y="5111496"/>
            <a:ext cx="9454896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Component Explanation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230368"/>
            <a:ext cx="9235440" cy="438912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marL="260000" hanging="120000">
              <a:spcAft>
                <a:spcPts val="320"/>
              </a:spcAft>
              <a:defRPr sz="860">
                <a:solidFill>
                  <a:srgbClr val="334155"/>
                </a:solidFill>
                <a:latin typeface="Aptos"/>
              </a:defRPr>
            </a:pPr>
            <a:r>
              <a:t>Frontend collects scan inputs and visualizes health, traffic, logs, and alerts.</a:t>
            </a:r>
          </a:p>
          <a:p>
            <a:pPr marL="260000" hanging="120000">
              <a:spcAft>
                <a:spcPts val="320"/>
              </a:spcAft>
              <a:defRPr sz="860">
                <a:solidFill>
                  <a:srgbClr val="334155"/>
                </a:solidFill>
                <a:latin typeface="Aptos"/>
              </a:defRPr>
            </a:pPr>
            <a:r>
              <a:t>API layer validates requests, persists records, and returns typed responses.</a:t>
            </a:r>
          </a:p>
          <a:p>
            <a:pPr marL="260000" hanging="120000">
              <a:spcAft>
                <a:spcPts val="320"/>
              </a:spcAft>
              <a:defRPr sz="860">
                <a:solidFill>
                  <a:srgbClr val="334155"/>
                </a:solidFill>
                <a:latin typeface="Aptos"/>
              </a:defRPr>
            </a:pPr>
            <a:r>
              <a:t>ML service classifies traffic and maps malicious classes to severity and alert metadata.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5895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75895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Tools selected for a maintainable academic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515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Distributed Intrusion Detection System - University Project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4892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154533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90472"/>
            <a:ext cx="192024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83080"/>
            <a:ext cx="38862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334155"/>
                </a:solidFill>
                <a:latin typeface="Aptos"/>
              </a:rPr>
              <a:t>React, Vite, TypeScript, Tailwind CSS, Recharts, Lucide icons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4892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28231" y="1545336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490472"/>
            <a:ext cx="192024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Backend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783080"/>
            <a:ext cx="38862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334155"/>
                </a:solidFill>
                <a:latin typeface="Aptos"/>
              </a:rPr>
              <a:t>Node.js, Express, OpenAPI contract, Zod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51760"/>
            <a:ext cx="4892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" y="2871215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816352"/>
            <a:ext cx="192024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ML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108960"/>
            <a:ext cx="38862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334155"/>
                </a:solidFill>
                <a:latin typeface="Aptos"/>
              </a:rPr>
              <a:t>Python, FastAPI, scikit-learn Random Forest, NumPy, joblib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651760"/>
            <a:ext cx="4892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8231" y="2871215"/>
            <a:ext cx="384048" cy="38404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816352"/>
            <a:ext cx="192024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108960"/>
            <a:ext cx="38862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334155"/>
                </a:solidFill>
                <a:latin typeface="Aptos"/>
              </a:rPr>
              <a:t>PostgreSQL, SQLAlchemy models, Drizzle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977639"/>
            <a:ext cx="4892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2" y="419709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142231"/>
            <a:ext cx="192024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434840"/>
            <a:ext cx="38862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334155"/>
                </a:solidFill>
                <a:latin typeface="Aptos"/>
              </a:rPr>
              <a:t>JWT authentication, password hashing, protected routes/API keys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977639"/>
            <a:ext cx="4892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28231" y="4197096"/>
            <a:ext cx="384048" cy="38404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142231"/>
            <a:ext cx="192024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1">
                <a:solidFill>
                  <a:srgbClr val="0F172A"/>
                </a:solidFill>
                <a:latin typeface="Aptos"/>
              </a:rPr>
              <a:t>DevOps &amp;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434840"/>
            <a:ext cx="388620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334155"/>
                </a:solidFill>
                <a:latin typeface="Aptos"/>
              </a:rPr>
              <a:t>Docker Compose, Vitest, Pytest, generated API clients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5895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75895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End-to-end detection and alert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515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Distributed Intrusion Detection System - University Project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205740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993392"/>
            <a:ext cx="960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30" b="1">
                <a:solidFill>
                  <a:srgbClr val="0F172A"/>
                </a:solidFill>
                <a:latin typeface="Aptos"/>
              </a:rPr>
              <a:t>Packet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22576"/>
            <a:ext cx="1298448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680" b="0">
                <a:solidFill>
                  <a:srgbClr val="334155"/>
                </a:solidFill>
                <a:latin typeface="Aptos"/>
              </a:rPr>
              <a:t>Manual scan, structured packet metadata, or tcpdump-style 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2304288"/>
            <a:ext cx="274320" cy="150876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60320" y="3337560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0048" y="356616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3502152"/>
            <a:ext cx="960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30" b="1">
                <a:solidFill>
                  <a:srgbClr val="0F172A"/>
                </a:solidFill>
                <a:latin typeface="Aptos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3831335"/>
            <a:ext cx="1298448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680" b="0">
                <a:solidFill>
                  <a:srgbClr val="334155"/>
                </a:solidFill>
                <a:latin typeface="Aptos"/>
              </a:rPr>
              <a:t>Schema validation and authentication/API key checks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4160520" y="2304288"/>
            <a:ext cx="274320" cy="150876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34840" y="1828800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44568" y="205740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1993392"/>
            <a:ext cx="960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30" b="1">
                <a:solidFill>
                  <a:srgbClr val="0F172A"/>
                </a:solidFill>
                <a:latin typeface="Aptos"/>
              </a:rPr>
              <a:t>Feature 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1" y="2322576"/>
            <a:ext cx="1298448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680" b="0">
                <a:solidFill>
                  <a:srgbClr val="334155"/>
                </a:solidFill>
                <a:latin typeface="Aptos"/>
              </a:rPr>
              <a:t>Map request fields to flow features and anomaly signals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0" y="2304288"/>
            <a:ext cx="274319" cy="150876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59" y="3337560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9088" y="3566160"/>
            <a:ext cx="347472" cy="3474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502152"/>
            <a:ext cx="960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30" b="1">
                <a:solidFill>
                  <a:srgbClr val="0F172A"/>
                </a:solidFill>
                <a:latin typeface="Aptos"/>
              </a:rPr>
              <a:t>Classification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1" y="3831335"/>
            <a:ext cx="1298448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680" b="0">
                <a:solidFill>
                  <a:srgbClr val="334155"/>
                </a:solidFill>
                <a:latin typeface="Aptos"/>
              </a:rPr>
              <a:t>Random Forest / detection engine predicts class + confidence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7909559" y="2304288"/>
            <a:ext cx="274320" cy="150876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183879" y="1828800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93607" y="205740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4232" y="1993392"/>
            <a:ext cx="960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30" b="1">
                <a:solidFill>
                  <a:srgbClr val="0F172A"/>
                </a:solidFill>
                <a:latin typeface="Aptos"/>
              </a:rPr>
              <a:t>Persistence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2322576"/>
            <a:ext cx="1298448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680" b="0">
                <a:solidFill>
                  <a:srgbClr val="334155"/>
                </a:solidFill>
                <a:latin typeface="Aptos"/>
              </a:rPr>
              <a:t>Save network log and confidence score in database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84080" y="2304288"/>
            <a:ext cx="274320" cy="1508760"/>
          </a:xfrm>
          <a:prstGeom prst="line">
            <a:avLst/>
          </a:prstGeom>
          <a:ln w="1651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058400" y="3337560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68128" y="356616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88752" y="3502152"/>
            <a:ext cx="9601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30" b="1">
                <a:solidFill>
                  <a:srgbClr val="0F172A"/>
                </a:solidFill>
                <a:latin typeface="Aptos"/>
              </a:rPr>
              <a:t>Alert &amp;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2992" y="3831335"/>
            <a:ext cx="1298448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680" b="0">
                <a:solidFill>
                  <a:srgbClr val="334155"/>
                </a:solidFill>
                <a:latin typeface="Aptos"/>
              </a:rPr>
              <a:t>Create alert, update dashboard, show recent activity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8348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Benign traffic is logged for audit; malicious traffic additionally triggers severity mapping and alert resolution workflow.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5895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75895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Important modules, functionalities, and dashboard mockup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515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Distributed Intrusion Detection System - University Project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22402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490472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472184"/>
            <a:ext cx="16459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TOTAL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709928"/>
            <a:ext cx="16459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 Display"/>
              </a:rPr>
              <a:t>12,840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325880"/>
            <a:ext cx="22402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92424" y="149047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1472184"/>
            <a:ext cx="16459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THREATS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709928"/>
            <a:ext cx="16459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 Display"/>
              </a:rPr>
              <a:t>384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1325880"/>
            <a:ext cx="22402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61304" y="149047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1472184"/>
            <a:ext cx="16459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SAFE REQUESTS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1709928"/>
            <a:ext cx="16459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 Display"/>
              </a:rPr>
              <a:t>12,456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325880"/>
            <a:ext cx="22402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30183" y="1490472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1472184"/>
            <a:ext cx="16459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ACTIVE NODES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1709928"/>
            <a:ext cx="16459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 Display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2468880"/>
            <a:ext cx="493776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2596896"/>
            <a:ext cx="4608576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Live Traffic Scanner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2944368"/>
            <a:ext cx="100584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680" b="1">
                <a:solidFill>
                  <a:srgbClr val="64748B"/>
                </a:solidFill>
                <a:latin typeface="Aptos"/>
              </a:rPr>
              <a:t>SOURCE 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" y="3127248"/>
            <a:ext cx="18288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" y="3191256"/>
            <a:ext cx="1645920" cy="10972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scadia Mono"/>
              </a:rPr>
              <a:t>192.168.1.50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27832" y="2944368"/>
            <a:ext cx="100584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680" b="1">
                <a:solidFill>
                  <a:srgbClr val="64748B"/>
                </a:solidFill>
                <a:latin typeface="Aptos"/>
              </a:rPr>
              <a:t>DESTINATION IP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27832" y="3127248"/>
            <a:ext cx="18288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00984" y="3191256"/>
            <a:ext cx="1645920" cy="10972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scadia Mono"/>
              </a:rPr>
              <a:t>10.0.0.1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3602736"/>
            <a:ext cx="100584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680" b="1">
                <a:solidFill>
                  <a:srgbClr val="64748B"/>
                </a:solidFill>
                <a:latin typeface="Aptos"/>
              </a:rPr>
              <a:t>PROTOCOL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" y="3785616"/>
            <a:ext cx="18288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" y="3849624"/>
            <a:ext cx="1645920" cy="10972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scadia Mono"/>
              </a:rPr>
              <a:t>TCP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27832" y="3602736"/>
            <a:ext cx="100584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680" b="1">
                <a:solidFill>
                  <a:srgbClr val="64748B"/>
                </a:solidFill>
                <a:latin typeface="Aptos"/>
              </a:rPr>
              <a:t>NODE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27832" y="3785616"/>
            <a:ext cx="182880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00984" y="3849624"/>
            <a:ext cx="1645920" cy="10972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334155"/>
                </a:solidFill>
                <a:latin typeface="Cascadia Mono"/>
              </a:rPr>
              <a:t>node-1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2" y="4315968"/>
            <a:ext cx="4343400" cy="457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5568" y="4462272"/>
            <a:ext cx="3931920" cy="1371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19" b="1">
                <a:solidFill>
                  <a:srgbClr val="EF4444"/>
                </a:solidFill>
                <a:latin typeface="Aptos"/>
              </a:rPr>
              <a:t>Threat detected: SYN Flood Attack - 97% confidence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0760" y="2468880"/>
            <a:ext cx="5212080" cy="2697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2578608"/>
            <a:ext cx="4846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  <a:latin typeface="Aptos"/>
              </a:rPr>
              <a:t>scan.ts / detection_service.py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52928"/>
            <a:ext cx="48920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19">
                <a:solidFill>
                  <a:srgbClr val="E2E8F0"/>
                </a:solidFill>
                <a:latin typeface="Cascadia Mono"/>
              </a:rPr>
              <a:t>router.post('/scan', async (req, res) =&gt; {</a:t>
            </a:r>
          </a:p>
          <a:p>
            <a:r>
              <a:rPr sz="819">
                <a:solidFill>
                  <a:srgbClr val="E2E8F0"/>
                </a:solidFill>
                <a:latin typeface="Cascadia Mono"/>
              </a:rPr>
              <a:t>  const parsed = ScanTrafficBody.safeParse(req.body);</a:t>
            </a:r>
          </a:p>
          <a:p>
            <a:r>
              <a:rPr sz="819">
                <a:solidFill>
                  <a:srgbClr val="E2E8F0"/>
                </a:solidFill>
                <a:latin typeface="Cascadia Mono"/>
              </a:rPr>
              <a:t>  const detection = detectThreat(parsed.data);</a:t>
            </a:r>
          </a:p>
          <a:p>
            <a:r>
              <a:rPr sz="819">
                <a:solidFill>
                  <a:srgbClr val="E2E8F0"/>
                </a:solidFill>
                <a:latin typeface="Cascadia Mono"/>
              </a:rPr>
              <a:t>  const [log] = await db.insert(networkLogsTable)</a:t>
            </a:r>
          </a:p>
          <a:p>
            <a:r>
              <a:rPr sz="819">
                <a:solidFill>
                  <a:srgbClr val="E2E8F0"/>
                </a:solidFill>
                <a:latin typeface="Cascadia Mono"/>
              </a:rPr>
              <a:t>    .values({ status: detection.prediction,</a:t>
            </a:r>
          </a:p>
          <a:p>
            <a:r>
              <a:rPr sz="819">
                <a:solidFill>
                  <a:srgbClr val="E2E8F0"/>
                </a:solidFill>
                <a:latin typeface="Cascadia Mono"/>
              </a:rPr>
              <a:t>              confidenceScore: detection.confidenceScore });</a:t>
            </a:r>
          </a:p>
          <a:p>
            <a:r>
              <a:rPr sz="819">
                <a:solidFill>
                  <a:srgbClr val="E2E8F0"/>
                </a:solidFill>
                <a:latin typeface="Cascadia Mono"/>
              </a:rPr>
              <a:t>  if (detection.prediction === 'malicious') {</a:t>
            </a:r>
          </a:p>
          <a:p>
            <a:r>
              <a:rPr sz="819">
                <a:solidFill>
                  <a:srgbClr val="E2E8F0"/>
                </a:solidFill>
                <a:latin typeface="Cascadia Mono"/>
              </a:rPr>
              <a:t>    await db.insert(alertsTable).values({ severity: detection.severity });</a:t>
            </a:r>
          </a:p>
          <a:p>
            <a:r>
              <a:rPr sz="819">
                <a:solidFill>
                  <a:srgbClr val="E2E8F0"/>
                </a:solidFill>
                <a:latin typeface="Cascadia Mono"/>
              </a:rPr>
              <a:t>  }</a:t>
            </a:r>
          </a:p>
          <a:p>
            <a:r>
              <a:rPr sz="819">
                <a:solidFill>
                  <a:srgbClr val="E2E8F0"/>
                </a:solidFill>
                <a:latin typeface="Cascadia Mono"/>
              </a:rPr>
              <a:t>});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440680"/>
            <a:ext cx="10424160" cy="685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marL="260000" hanging="120000">
              <a:spcAft>
                <a:spcPts val="320"/>
              </a:spcAft>
              <a:defRPr sz="950">
                <a:solidFill>
                  <a:srgbClr val="334155"/>
                </a:solidFill>
                <a:latin typeface="Aptos"/>
              </a:defRPr>
            </a:pPr>
            <a:r>
              <a:t>Frontend pages: Dashboard, Logs, Alerts, Analytics, Login, Signup.</a:t>
            </a:r>
          </a:p>
          <a:p>
            <a:pPr marL="260000" hanging="120000">
              <a:spcAft>
                <a:spcPts val="320"/>
              </a:spcAft>
              <a:defRPr sz="950">
                <a:solidFill>
                  <a:srgbClr val="334155"/>
                </a:solidFill>
                <a:latin typeface="Aptos"/>
              </a:defRPr>
            </a:pPr>
            <a:r>
              <a:t>Backend routes: scan, logs, recent logs, alerts, resolve alert, analytics, summary.</a:t>
            </a:r>
          </a:p>
          <a:p>
            <a:pPr marL="260000" hanging="120000">
              <a:spcAft>
                <a:spcPts val="320"/>
              </a:spcAft>
              <a:defRPr sz="950">
                <a:solidFill>
                  <a:srgbClr val="334155"/>
                </a:solidFill>
                <a:latin typeface="Aptos"/>
              </a:defRPr>
            </a:pPr>
            <a:r>
              <a:t>ML modules: dataset generation, model training, feature scaler, label encoder, inference service.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5895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Results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75895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Model evaluation and functional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515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Distributed Intrusion Detection System - University Project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22402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490472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472184"/>
            <a:ext cx="16459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TEST 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709928"/>
            <a:ext cx="16459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 Display"/>
              </a:rPr>
              <a:t>21,600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325880"/>
            <a:ext cx="22402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92424" y="149047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1472184"/>
            <a:ext cx="16459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709928"/>
            <a:ext cx="16459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 Display"/>
              </a:rPr>
              <a:t>100.00%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1325880"/>
            <a:ext cx="22402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61304" y="1490472"/>
            <a:ext cx="164592" cy="16459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1472184"/>
            <a:ext cx="16459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WEIGHTED 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1709928"/>
            <a:ext cx="16459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 Display"/>
              </a:rPr>
              <a:t>1.0000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325880"/>
            <a:ext cx="224028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30183" y="149047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1472184"/>
            <a:ext cx="16459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1">
                <a:solidFill>
                  <a:srgbClr val="64748B"/>
                </a:solidFill>
                <a:latin typeface="Aptos"/>
              </a:rPr>
              <a:t>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1709928"/>
            <a:ext cx="16459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 Display"/>
              </a:rPr>
              <a:t>7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868680" y="2514600"/>
          <a:ext cx="525780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6629400" y="2514600"/>
            <a:ext cx="45262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2642616"/>
            <a:ext cx="4197096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Test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907792"/>
            <a:ext cx="4069080" cy="16916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marL="260000" hanging="120000">
              <a:spcAft>
                <a:spcPts val="320"/>
              </a:spcAft>
              <a:defRPr sz="919">
                <a:solidFill>
                  <a:srgbClr val="334155"/>
                </a:solidFill>
                <a:latin typeface="Aptos"/>
              </a:defRPr>
            </a:pPr>
            <a:r>
              <a:t>Signup/login returns JWT and protects user-specific endpoints.</a:t>
            </a:r>
          </a:p>
          <a:p>
            <a:pPr marL="260000" hanging="120000">
              <a:spcAft>
                <a:spcPts val="320"/>
              </a:spcAft>
              <a:defRPr sz="919">
                <a:solidFill>
                  <a:srgbClr val="334155"/>
                </a:solidFill>
                <a:latin typeface="Aptos"/>
              </a:defRPr>
            </a:pPr>
            <a:r>
              <a:t>Scan endpoint validates payload and returns prediction, confidence, threat type, and alert ID.</a:t>
            </a:r>
          </a:p>
          <a:p>
            <a:pPr marL="260000" hanging="120000">
              <a:spcAft>
                <a:spcPts val="320"/>
              </a:spcAft>
              <a:defRPr sz="919">
                <a:solidFill>
                  <a:srgbClr val="334155"/>
                </a:solidFill>
                <a:latin typeface="Aptos"/>
              </a:defRPr>
            </a:pPr>
            <a:r>
              <a:t>Logs endpoints support pagination, status filters, search, and recent activity.</a:t>
            </a:r>
          </a:p>
          <a:p>
            <a:pPr marL="260000" hanging="120000">
              <a:spcAft>
                <a:spcPts val="320"/>
              </a:spcAft>
              <a:defRPr sz="919">
                <a:solidFill>
                  <a:srgbClr val="334155"/>
                </a:solidFill>
                <a:latin typeface="Aptos"/>
              </a:defRPr>
            </a:pPr>
            <a:r>
              <a:t>Alert endpoint lists severity-filtered alerts and supports resolve action.</a:t>
            </a:r>
          </a:p>
          <a:p>
            <a:pPr marL="260000" hanging="120000">
              <a:spcAft>
                <a:spcPts val="320"/>
              </a:spcAft>
              <a:defRPr sz="919">
                <a:solidFill>
                  <a:srgbClr val="334155"/>
                </a:solidFill>
                <a:latin typeface="Aptos"/>
              </a:defRPr>
            </a:pPr>
            <a:r>
              <a:t>ML report shows perfect confusion matrix on synthetic CICIDS-style test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5895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Advantages &amp;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75895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Benefits and real-world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515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Distributed Intrusion Detection System - University Project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39319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Advantages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783080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764792"/>
            <a:ext cx="32004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Real-time Awareness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11680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tos"/>
              </a:rPr>
              <a:t>Auto-refreshing dashboard and recent logs.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587752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69464"/>
            <a:ext cx="32004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Actionable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16352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tos"/>
              </a:rPr>
              <a:t>Malicious traffic becomes a severity-ranked incident.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392424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374136"/>
            <a:ext cx="32004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Auditability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621024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tos"/>
              </a:rPr>
              <a:t>Every scan stores source, destination, status, confidence, and node.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197096"/>
            <a:ext cx="310896" cy="3108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78808"/>
            <a:ext cx="32004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Scalable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425696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tos"/>
              </a:rPr>
              <a:t>Node-based input and separate UI/API/database layers.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325880"/>
            <a:ext cx="39319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Applications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1783080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1764792"/>
            <a:ext cx="32004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Campus Networks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011680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tos"/>
              </a:rPr>
              <a:t>Monitor lab, department, and server traffic.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2587752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569464"/>
            <a:ext cx="32004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Small SOC Teams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816352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tos"/>
              </a:rPr>
              <a:t>Central dashboard for security operators.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3392424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374136"/>
            <a:ext cx="32004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Cloud Workloads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621024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tos"/>
              </a:rPr>
              <a:t>Detect suspicious API or service traffic patterns.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197096"/>
            <a:ext cx="310896" cy="3108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178808"/>
            <a:ext cx="32004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Aptos"/>
              </a:rPr>
              <a:t>Learning Platform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425696"/>
            <a:ext cx="40233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334155"/>
                </a:solidFill>
                <a:latin typeface="Aptos"/>
              </a:rPr>
              <a:t>Demonstrate IDS concepts, ML classification, and incident workflow.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166360"/>
            <a:ext cx="9966960" cy="56692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5340096"/>
            <a:ext cx="9326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ptos"/>
              </a:rPr>
              <a:t>The system converts raw network activity into classified evidence that can be reviewed, explained, and acted upon.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5895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75895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Improvements and scalability options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515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Distributed Intrusion Detection System - University Project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16459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18488"/>
            <a:ext cx="21488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80" b="1">
                <a:solidFill>
                  <a:srgbClr val="0F172A"/>
                </a:solidFill>
                <a:latin typeface="Aptos"/>
              </a:rPr>
              <a:t>Deeper Packet 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075688"/>
            <a:ext cx="260604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30" b="0">
                <a:solidFill>
                  <a:srgbClr val="334155"/>
                </a:solidFill>
                <a:latin typeface="Aptos"/>
              </a:rPr>
              <a:t>Integrate Zeek or Suricata agents for continuous real traffic streaming.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79" y="141732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90871" y="1645920"/>
            <a:ext cx="384048" cy="38404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1618488"/>
            <a:ext cx="21488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80" b="1">
                <a:solidFill>
                  <a:srgbClr val="0F172A"/>
                </a:solidFill>
                <a:latin typeface="Aptos"/>
              </a:rPr>
              <a:t>Distributed 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599" y="2075688"/>
            <a:ext cx="260604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30" b="0">
                <a:solidFill>
                  <a:srgbClr val="334155"/>
                </a:solidFill>
                <a:latin typeface="Aptos"/>
              </a:rPr>
              <a:t>Deploy lightweight node agents that stream features to the central API.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19" y="141732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39911" y="164592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1618488"/>
            <a:ext cx="21488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80" b="1">
                <a:solidFill>
                  <a:srgbClr val="0F172A"/>
                </a:solidFill>
                <a:latin typeface="Aptos"/>
              </a:rPr>
              <a:t>Model Maturity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075688"/>
            <a:ext cx="260604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30" b="0">
                <a:solidFill>
                  <a:srgbClr val="334155"/>
                </a:solidFill>
                <a:latin typeface="Aptos"/>
              </a:rPr>
              <a:t>Train on larger real datasets, tune thresholds, and measure false positives.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4612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1832" y="3474720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447288"/>
            <a:ext cx="21488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80" b="1">
                <a:solidFill>
                  <a:srgbClr val="0F172A"/>
                </a:solidFill>
                <a:latin typeface="Aptos"/>
              </a:rPr>
              <a:t>Response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904487"/>
            <a:ext cx="260604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30" b="0">
                <a:solidFill>
                  <a:srgbClr val="334155"/>
                </a:solidFill>
                <a:latin typeface="Aptos"/>
              </a:rPr>
              <a:t>Add blocking rules, ticket creation, email/SMS alerts, and playbooks.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79" y="324612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90871" y="347472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9" y="3447288"/>
            <a:ext cx="21488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80" b="1">
                <a:solidFill>
                  <a:srgbClr val="0F172A"/>
                </a:solidFill>
                <a:latin typeface="Aptos"/>
              </a:rPr>
              <a:t>Role-Based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599" y="3904487"/>
            <a:ext cx="260604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30" b="0">
                <a:solidFill>
                  <a:srgbClr val="334155"/>
                </a:solidFill>
                <a:latin typeface="Aptos"/>
              </a:rPr>
              <a:t>Separate admin, analyst, and viewer permissions.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19" y="324612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39911" y="3474720"/>
            <a:ext cx="384048" cy="384048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3447288"/>
            <a:ext cx="21488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80" b="1">
                <a:solidFill>
                  <a:srgbClr val="0F172A"/>
                </a:solidFill>
                <a:latin typeface="Aptos"/>
              </a:rPr>
              <a:t>Production Observability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904487"/>
            <a:ext cx="260604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30" b="0">
                <a:solidFill>
                  <a:srgbClr val="334155"/>
                </a:solidFill>
                <a:latin typeface="Aptos"/>
              </a:rPr>
              <a:t>Add metrics, tracing, model drift monitoring, and backup strategy.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5895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758952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Summary and key achievements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97280"/>
            <a:ext cx="10515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5029200" cy="1645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ptos"/>
              </a:rPr>
              <a:t>Distributed Intrusion Detection System - University Project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4114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49834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545336"/>
            <a:ext cx="4654296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74519"/>
            <a:ext cx="4434840" cy="23317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marL="260000" hanging="120000">
              <a:spcAft>
                <a:spcPts val="320"/>
              </a:spcAft>
              <a:defRPr sz="1230">
                <a:solidFill>
                  <a:srgbClr val="334155"/>
                </a:solidFill>
                <a:latin typeface="Aptos"/>
              </a:defRPr>
            </a:pPr>
            <a:r>
              <a:t>Developed a full-stack distributed intrusion detection dashboard.</a:t>
            </a:r>
          </a:p>
          <a:p>
            <a:pPr marL="260000" hanging="120000">
              <a:spcAft>
                <a:spcPts val="320"/>
              </a:spcAft>
              <a:defRPr sz="1230">
                <a:solidFill>
                  <a:srgbClr val="334155"/>
                </a:solidFill>
                <a:latin typeface="Aptos"/>
              </a:defRPr>
            </a:pPr>
            <a:r>
              <a:t>Implemented authentication, scan submission, logs, alerts, analytics, and summary APIs.</a:t>
            </a:r>
          </a:p>
          <a:p>
            <a:pPr marL="260000" hanging="120000">
              <a:spcAft>
                <a:spcPts val="320"/>
              </a:spcAft>
              <a:defRPr sz="1230">
                <a:solidFill>
                  <a:srgbClr val="334155"/>
                </a:solidFill>
                <a:latin typeface="Aptos"/>
              </a:defRPr>
            </a:pPr>
            <a:r>
              <a:t>Integrated trained Random Forest artifacts and detection logic for threat classification.</a:t>
            </a:r>
          </a:p>
          <a:p>
            <a:pPr marL="260000" hanging="120000">
              <a:spcAft>
                <a:spcPts val="320"/>
              </a:spcAft>
              <a:defRPr sz="1230">
                <a:solidFill>
                  <a:srgbClr val="334155"/>
                </a:solidFill>
                <a:latin typeface="Aptos"/>
              </a:defRPr>
            </a:pPr>
            <a:r>
              <a:t>Stored results persistently with confidence scores and alert metadata.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45262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545336"/>
            <a:ext cx="4197096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Aptos"/>
              </a:rPr>
              <a:t>Key Achievements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874519"/>
            <a:ext cx="3977639" cy="21488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marL="260000" hanging="120000">
              <a:spcAft>
                <a:spcPts val="320"/>
              </a:spcAft>
              <a:defRPr sz="1230">
                <a:solidFill>
                  <a:srgbClr val="334155"/>
                </a:solidFill>
                <a:latin typeface="Aptos"/>
              </a:defRPr>
            </a:pPr>
            <a:r>
              <a:t>Seven-class threat coverage: BENIGN, DDoS, DoS Hulk, DoS GoldenEye, PortScan, FTP-Patator, SSH-Patator.</a:t>
            </a:r>
          </a:p>
          <a:p>
            <a:pPr marL="260000" hanging="120000">
              <a:spcAft>
                <a:spcPts val="320"/>
              </a:spcAft>
              <a:defRPr sz="1230">
                <a:solidFill>
                  <a:srgbClr val="334155"/>
                </a:solidFill>
                <a:latin typeface="Aptos"/>
              </a:defRPr>
            </a:pPr>
            <a:r>
              <a:t>100% accuracy and weighted F1 on the included synthetic CICIDS-style test set.</a:t>
            </a:r>
          </a:p>
          <a:p>
            <a:pPr marL="260000" hanging="120000">
              <a:spcAft>
                <a:spcPts val="320"/>
              </a:spcAft>
              <a:defRPr sz="1230">
                <a:solidFill>
                  <a:srgbClr val="334155"/>
                </a:solidFill>
                <a:latin typeface="Aptos"/>
              </a:defRPr>
            </a:pPr>
            <a:r>
              <a:t>University defense-ready workflow with reproducible Docker-based deployment.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99669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Final takeaway: the project demonstrates how ML-assisted detection can be combined with usable dashboards and reliable backend services.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0" y="1170432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 Display"/>
              </a:rP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71800" y="2148840"/>
            <a:ext cx="6309360" cy="6858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800" y="2880360"/>
            <a:ext cx="630936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000" b="1">
                <a:solidFill>
                  <a:srgbClr val="BFDBFE"/>
                </a:solidFill>
                <a:latin typeface="Aptos"/>
              </a:rP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3886200"/>
            <a:ext cx="63093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Aptos"/>
              </a:rPr>
              <a:t>Muhammad Zaid (232674)  |  M. Shafiq (232699)  |  GCUF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